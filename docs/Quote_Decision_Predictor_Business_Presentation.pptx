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  <a:latin typeface="Calibri"/>
              </a:rPr>
              <a:t>GEICO  ·  AUTO QUOTE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Predicting Quote Decisions</a:t>
            </a:r>
          </a:p>
          <a:p>
            <a:pPr algn="l"/>
            <a:r>
              <a:rPr sz="2200" b="0">
                <a:solidFill>
                  <a:srgbClr val="CFDDE8"/>
                </a:solidFill>
                <a:latin typeface="Calibri"/>
              </a:rPr>
              <a:t>Turning 5,000 historic quotes into a conversion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Business stakeholder presentation — Sales &amp; Underwriting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Prepared by Phillip Smith  ·  Senior ML Engineering</a:t>
            </a:r>
          </a:p>
          <a:p>
            <a:pPr algn="l"/>
            <a:r>
              <a:rPr sz="1400" b="0">
                <a:solidFill>
                  <a:srgbClr val="5A6B7B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THE BUSINESS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Use Case &amp;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When a prospect requests an auto quote, can we tell up front how likely they are to accept — and what drives that decision?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3566160" cy="18288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82296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Objective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Predict whether a quote ends in Accepted or Denied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Identify the levers that move conversion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Give Sales a data-backed targeting &amp; follow-up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423160"/>
            <a:ext cx="3566160" cy="18288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82296" cy="18288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569464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Why it matters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68.6% of quotes convert today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Even a few points of lift = meaningful premium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Focus effort where it actually pays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423160"/>
            <a:ext cx="3566160" cy="18288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23160"/>
            <a:ext cx="82296" cy="18288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69464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Success criteria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Beat the 'accept everyone' baseline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Errors acceptable for a sales-prioritization 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Explainable to underwriting &amp;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82296" cy="1371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581144"/>
            <a:ext cx="10652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Scope &amp; framing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This is a CLASSIFICATION problem (Accept vs. Deny) — not a pricing model. The data contains the decision outcome but no premium/price field, so margin impact is discussed qualitatively. Built on 5,000 historic quotes with a held-out 20% test set so results reflect unseen prospects.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WHAT WE'RE WORKING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Data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5176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51760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2A9D8F"/>
                </a:solidFill>
                <a:latin typeface="Calibri"/>
              </a:rPr>
              <a:t>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historic quotes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5176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651760" cy="109728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27632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E9C46A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applicant &amp; vehicle attributes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265176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17320"/>
            <a:ext cx="2651760" cy="10972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27632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E76F51"/>
                </a:solidFill>
                <a:latin typeface="Calibri"/>
              </a:rPr>
              <a:t>68.6%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overall acceptance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417320"/>
            <a:ext cx="265176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417320"/>
            <a:ext cx="2651760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627632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B2545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3172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missing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63240"/>
            <a:ext cx="544068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63240"/>
            <a:ext cx="82296" cy="2926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209544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What each quote tells us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Applicant: age, gender, marital &amp; home status, education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Behavior: driving experience, risk tier, daily / annual mileage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Vehicle: car type, car age, ownership, number of vehicles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Quote: type (Auto-only vs. bundled) and the final decision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Target = QuoteSts  →  Accepted (1) or Denied (0)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063240"/>
            <a:ext cx="544068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Outcome mix — a healthy, slightly imbalanced base</a:t>
            </a:r>
          </a:p>
        </p:txBody>
      </p:sp>
      <p:pic>
        <p:nvPicPr>
          <p:cNvPr id="27" name="Picture 26" descr="STAT_Q_c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3611880"/>
            <a:ext cx="3733800" cy="22402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EDA FINDINGS — IN PLAIN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Two Factors Dominate the Decision</a:t>
            </a:r>
          </a:p>
        </p:txBody>
      </p:sp>
      <p:pic>
        <p:nvPicPr>
          <p:cNvPr id="6" name="Picture 5" descr="rate_quote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71600"/>
            <a:ext cx="5406390" cy="3017520"/>
          </a:xfrm>
          <a:prstGeom prst="rect">
            <a:avLst/>
          </a:prstGeom>
        </p:spPr>
      </p:pic>
      <p:pic>
        <p:nvPicPr>
          <p:cNvPr id="7" name="Picture 6" descr="rate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05" y="1371600"/>
            <a:ext cx="540639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4526280"/>
            <a:ext cx="1106424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526280"/>
            <a:ext cx="82296" cy="1371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672584"/>
            <a:ext cx="10652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So what?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Bundled (Auto + another policy) quotes convert at 80% vs. 52% for auto-only — a 28-point gap. Male applicants accept at 81% vs. 58% for female applicants. These two signals alone explain most of the conversion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EDA FINDINGS — SECONDARY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Most Other Factors Barely Move the Needle</a:t>
            </a:r>
          </a:p>
        </p:txBody>
      </p:sp>
      <p:pic>
        <p:nvPicPr>
          <p:cNvPr id="6" name="Picture 5" descr="rate_drive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371600"/>
            <a:ext cx="5242560" cy="2926080"/>
          </a:xfrm>
          <a:prstGeom prst="rect">
            <a:avLst/>
          </a:prstGeom>
        </p:spPr>
      </p:pic>
      <p:pic>
        <p:nvPicPr>
          <p:cNvPr id="7" name="Picture 6" descr="rate_car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20" y="1371600"/>
            <a:ext cx="5242560" cy="2926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4434840"/>
            <a:ext cx="544068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434840"/>
            <a:ext cx="82296" cy="14630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581144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long tail of weak factors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Driving-risk tier, car type, mileage, education, marital and home status all hover within a few points of the 69% average — interesting, but weak predictors on their 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434840"/>
            <a:ext cx="544068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434840"/>
            <a:ext cx="82296" cy="1463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581144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Age: volume, not discrimination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74% of applicants are 17–25. Acceptance is fairly flat across age bands, so age tells us where the customers are more than who converts.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GETTING THE DATA MODEL-READY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Data Preparation &amp; Wrangling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70048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225856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Standardize &amp; clean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Renamed 17 raw columns to clear names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Confirmed zero missing values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Raw file kept immutable; cached to 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63040"/>
            <a:ext cx="2670048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63040"/>
            <a:ext cx="82296" cy="3291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09344"/>
            <a:ext cx="225856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Encode categories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Yes/No fields → 0/1 (gender, quote type, ownership)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Ordered tiers → ranked numbers (risk, mileage, education)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Unordered types → one-hot (car type, marital status)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463040"/>
            <a:ext cx="2670048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463040"/>
            <a:ext cx="82296" cy="3291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09344"/>
            <a:ext cx="225856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Binning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Grouped raw ages into bands (17–25, 26–35, …)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Made age patterns readable for stakeholders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Used for EDA storytelling, not as a model crutch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1463040"/>
            <a:ext cx="2670048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87968" y="1463040"/>
            <a:ext cx="82296" cy="3291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09344"/>
            <a:ext cx="225856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Feature selection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Chi-square test ranks each factor vs. outcome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Kept the 6 statistically significant signals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Dropped 12 fields that added only noise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82296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084064"/>
            <a:ext cx="10652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Leakage guardrail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Scaling is fit inside the training fold only — never on the full dataset — so test results honestly reflect performance on brand-new quotes.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HOW WE TESTED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Analytical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77240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9C46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508760"/>
            <a:ext cx="10149840" cy="960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627632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Traditional analytics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Acceptance rates, cross-tabs, and a simple 2-variable business rule (bundled OR male → predict accept)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777240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9C46A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606040"/>
            <a:ext cx="10149840" cy="960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724912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Machine learning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Three classifiers — Logistic Regression, Random Forest, Gradient Boosting — on the 6 selected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777240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0448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9C46A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703320"/>
            <a:ext cx="10149840" cy="960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822192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Fair evaluation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80/20 stratified split; judged on accuracy, precision, recall and ROC-AUC against unseen quotes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777240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9C46A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800600"/>
            <a:ext cx="10149840" cy="960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919472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Head-to-head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Compared ML to the simple rule and to the 'accept everyone' baseline to isolate true added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MODEL OUTPUT — 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Results: Good, But Not Because of ML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8580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463040"/>
            <a:ext cx="402336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463040"/>
            <a:ext cx="82296" cy="1691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2" y="1609344"/>
            <a:ext cx="3611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Best model: Gradient Boosting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Accuracy 78.5%   ·   ROC-AUC 0.72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Recall 91%  (catches most true accepts)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Precision 80%  ·  F1 0.85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3291840"/>
            <a:ext cx="4023360" cy="1783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291840"/>
            <a:ext cx="82296" cy="17830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3438144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honest finding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 2-variable rule hits 78.3% — within 0.2 pts of the best ML model. Almost all the signal lives in two factors any analyst can 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Verified on held-out test data (1,000 quotes the models never saw). Lift over 'accept everyone' is ~10 points — but ML's lift over simple analytics is essentially zero.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ARE THE MISTAKES ACCEPTABLE?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Type I &amp; Type II Errors</a:t>
            </a:r>
          </a:p>
        </p:txBody>
      </p:sp>
      <p:pic>
        <p:nvPicPr>
          <p:cNvPr id="6" name="Picture 5" descr="confusion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55" y="1417320"/>
            <a:ext cx="5338689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508760"/>
            <a:ext cx="539496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82296" cy="1417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550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Type II — missed accepts (61)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Model says 'deny' but they'd have accepted. The bigger business cost: under-served warm prospects. Kept low — recall is 91%.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063240"/>
            <a:ext cx="539496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063240"/>
            <a:ext cx="82296" cy="141732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320954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Type I — false alarms (154)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Model says 'accept' but they deny. Low cost here: a follow-up call to someone who won't convert. Tolerable for sales prioritization.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617720"/>
            <a:ext cx="539496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617720"/>
            <a:ext cx="82296" cy="1280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4764024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Verdict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For prioritizing sales effort, this error balance is acceptable. We deliberately favor recall — better to over-include warm leads than miss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Did Machine Learning Add Value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2148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2148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50292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Incremental value: minimal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ML beat 'accept everyone' by ~10 pts — but matched the simple rule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The dataset's signal is concentrated in 2 obvious factors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No complex interactions for trees to exploit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ROC-AUC 0.72 = useful ranking, not a step-change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486400" cy="2148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82296" cy="2148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9344"/>
            <a:ext cx="507492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Cost / benefit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Simple analytics: hours, fully transparent, easy to govern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ML pipeline: more build &amp; maintenance, harder to explain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Here the ROI of ML over analytics is hard to justify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ML earns its keep when data is richer &amp; relationships non-linear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1064240" cy="2057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82296" cy="20574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86784"/>
            <a:ext cx="106527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What I learned about analytics vs. machine learning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Analytics explains the 'why' and is faster to trust; ML scales pattern-finding when relationships are too complex to eyeball.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More model complexity ≠ more value — match the tool to the signal in the data.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Did binning / prep help? Prep was essential for clean modeling and clear EDA, but binning aided human storytelling more than model accuracy.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Always benchmark ML against a dumb baseline AND a simple rule — or you can't tell whether the model is actually earning its complexity.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TURNING INSIGHT INTO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Business Value for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70048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2651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22585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Lead with the bundle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Auto-only converts at 52% vs. 80% bundled. Proactively offer a bundle on every auto-only quote.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63040"/>
            <a:ext cx="2670048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63040"/>
            <a:ext cx="82296" cy="26517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09344"/>
            <a:ext cx="22585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Smart follow-up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Model recall of 91% flags warm prospects. Prioritize agent outreach on high-probability quotes; light-touch the 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463040"/>
            <a:ext cx="2670048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463040"/>
            <a:ext cx="82296" cy="2651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09344"/>
            <a:ext cx="22585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Set realistic targets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Segment-level acceptance rates give Sales honest conversion benchmarks instead of one blanket number.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1463040"/>
            <a:ext cx="2670048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87968" y="1463040"/>
            <a:ext cx="82296" cy="2651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09344"/>
            <a:ext cx="22585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Pricing follow-on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Add the premium/price field to enable a price-range model for margin optimization — the natural next dataset.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11064240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82296" cy="1554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489704"/>
            <a:ext cx="10652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Estimated impact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If bundle prompts and prioritized follow-up convert even 3–5% of today's auto-only decliners, that flows straight to written premium — at near-zero incremental cost, using rules the team already understands. (Estimated — to be validated with an A/B test.)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WHERE ELSE THIS PAYS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Similar Use Cases Across the 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0789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91440" cy="10789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Renewal / churn prediction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Flag policies likely to lapse and intervene early</a:t>
            </a:r>
          </a:p>
          <a:p>
            <a:pPr algn="l"/>
            <a:r>
              <a:rPr sz="1200" b="0">
                <a:solidFill>
                  <a:srgbClr val="E76F51"/>
                </a:solidFill>
                <a:latin typeface="Calibri"/>
              </a:rPr>
              <a:t>Value: retained premium  ·  Obstacle: needs behavioral + billing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1064240" cy="10789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91440" cy="10789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Claims fraud triage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Rank claims by anomaly for investigator focus</a:t>
            </a:r>
          </a:p>
          <a:p>
            <a:pPr algn="l"/>
            <a:r>
              <a:rPr sz="1200" b="0">
                <a:solidFill>
                  <a:srgbClr val="E76F51"/>
                </a:solidFill>
                <a:latin typeface="Calibri"/>
              </a:rPr>
              <a:t>Value: loss reduction  ·  Obstacle: labeled fraud cases are scarce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11064240" cy="10789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91440" cy="10789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9592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Dynamic price-to-convert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Recommend a quote price that balances win-rate &amp; margin</a:t>
            </a:r>
          </a:p>
          <a:p>
            <a:pPr algn="l"/>
            <a:r>
              <a:rPr sz="1200" b="0">
                <a:solidFill>
                  <a:srgbClr val="E76F51"/>
                </a:solidFill>
                <a:latin typeface="Calibri"/>
              </a:rPr>
              <a:t>Value: higher margin  ·  Obstacle: requires price &amp; competitor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064240" cy="10789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074920"/>
            <a:ext cx="91440" cy="10789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846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Cross-sell propensity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Predict who'll add home/life to an auto policy</a:t>
            </a:r>
          </a:p>
          <a:p>
            <a:pPr algn="l"/>
            <a:r>
              <a:rPr sz="1200" b="0">
                <a:solidFill>
                  <a:srgbClr val="E76F51"/>
                </a:solidFill>
                <a:latin typeface="Calibri"/>
              </a:rPr>
              <a:t>Value: revenue per customer  ·  Obstacle: data silos across product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  <a:latin typeface="Calibri"/>
              </a:rPr>
              <a:t>WHAT TO TELL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Key Takeaways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3657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3657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50292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What we now know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Conversion is driven mostly by bundling and applicant profile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We can predict acceptance at ~79% accuracy on unseen quotes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 transparent 2-rule model matches the ML — start simple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Error balance favors catching warm leads (91% recall)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No pricing field yet → margin work needs new data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Data is clean, complete, and ready for the next iteration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486400" cy="3657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82296" cy="3657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9344"/>
            <a:ext cx="50749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Recommended next steps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Ship bundle-prompt + follow-up rules to Sales now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Run an A/B test to measure real conversion lift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Acquire premium/price data to build a pricing model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Enrich data (credit, tenure, web behavior) before scaling ML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Revisit ML once relationships are genuinely non-linear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Monitor segment acceptance rates as a live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Quote Decision Predictor  ·  Confidential —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Start simple. Prove lift. Then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DE8"/>
                </a:solidFill>
                <a:latin typeface="Calibri"/>
              </a:rPr>
              <a:t>Two factors explain most of the conversion story — and a simple, explainable model already captures it. The win is acting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Calibri"/>
              </a:rPr>
              <a:t>Phillip Smith  ·  Senior ML Engineering  ·  Quote Decision Predictor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